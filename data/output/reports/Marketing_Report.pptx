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0.6653</c:v>
                </c:pt>
                <c:pt idx="1">
                  <c:v>0.7492</c:v>
                </c:pt>
                <c:pt idx="2">
                  <c:v>0.7363</c:v>
                </c:pt>
                <c:pt idx="3">
                  <c:v>0.8367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59877"/>
          <c:max val="1.00404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Engagement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0.7872</c:v>
                </c:pt>
                <c:pt idx="1">
                  <c:v>0.7596</c:v>
                </c:pt>
                <c:pt idx="2">
                  <c:v>0.7626</c:v>
                </c:pt>
                <c:pt idx="3">
                  <c:v>0.7646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8364"/>
          <c:max val="0.94463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Response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0.8525</c:v>
                </c:pt>
                <c:pt idx="1">
                  <c:v>0.7819</c:v>
                </c:pt>
                <c:pt idx="2">
                  <c:v>0.8822</c:v>
                </c:pt>
                <c:pt idx="3">
                  <c:v>0.7868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7037100000000001"/>
          <c:max val="1.05864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Age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11.45</c:v>
                </c:pt>
                <c:pt idx="1">
                  <c:v>0.53</c:v>
                </c:pt>
                <c:pt idx="2">
                  <c:v>11.77</c:v>
                </c:pt>
                <c:pt idx="3">
                  <c:v>9.58</c:v>
                </c:pt>
                <c:pt idx="4">
                  <c:v>66.67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Marketing - Quarterly Survey Report</a:t>
            </a:r>
          </a:p>
        </p:txBody>
      </p:sp>
      <p:sp>
        <p:nvSpPr>
          <p:cNvPr id="3" name="TextBox_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Q4 2024 | Department Size: 324 | Response Rate: 78.7%</a:t>
            </a:r>
          </a:p>
        </p:txBody>
      </p:sp>
      <p:graphicFrame>
        <p:nvGraphicFramePr>
          <p:cNvPr id="4" name="Chart_Satisfaction"/>
          <p:cNvGraphicFramePr>
            <a:graphicFrameLocks noGrp="1"/>
          </p:cNvGraphicFramePr>
          <p:nvPr/>
        </p:nvGraphicFramePr>
        <p:xfrm>
          <a:off x="4572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_Engagement"/>
          <p:cNvGraphicFramePr>
            <a:graphicFrameLocks noGrp="1"/>
          </p:cNvGraphicFramePr>
          <p:nvPr/>
        </p:nvGraphicFramePr>
        <p:xfrm>
          <a:off x="45720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_Response"/>
          <p:cNvGraphicFramePr>
            <a:graphicFrameLocks noGrp="1"/>
          </p:cNvGraphicFramePr>
          <p:nvPr/>
        </p:nvGraphicFramePr>
        <p:xfrm>
          <a:off x="4572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_Age"/>
          <p:cNvGraphicFramePr>
            <a:graphicFrameLocks noGrp="1"/>
          </p:cNvGraphicFramePr>
          <p:nvPr/>
        </p:nvGraphicFramePr>
        <p:xfrm>
          <a:off x="45720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_Conclusion"/>
          <p:cNvSpPr txBox="1"/>
          <p:nvPr/>
        </p:nvSpPr>
        <p:spPr>
          <a:xfrm>
            <a:off x="457200" y="6537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Key Findings: Overall satisfaction increased by 13.6% QoQ. Current satisfaction: 83.7%, engagement: 76.5%.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Detail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Marketing - Detailed Metrics</a:t>
            </a:r>
          </a:p>
        </p:txBody>
      </p:sp>
      <p:sp>
        <p:nvSpPr>
          <p:cNvPr id="3" name="TextBox_Detail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QoQ changes and demographic breakdown</a:t>
            </a:r>
          </a:p>
        </p:txBody>
      </p:sp>
      <p:graphicFrame>
        <p:nvGraphicFramePr>
          <p:cNvPr id="4" name="Table_Metrics"/>
          <p:cNvGraphicFramePr>
            <a:graphicFrameLocks noGrp="1"/>
          </p:cNvGraphicFramePr>
          <p:nvPr/>
        </p:nvGraphicFramePr>
        <p:xfrm>
          <a:off x="45720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QoQ 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+10.0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+0.2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-9.5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 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_Age"/>
          <p:cNvGraphicFramePr>
            <a:graphicFrameLocks noGrp="1"/>
          </p:cNvGraphicFramePr>
          <p:nvPr/>
        </p:nvGraphicFramePr>
        <p:xfrm>
          <a:off x="5394960" y="128016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Share of respondents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_Notes"/>
          <p:cNvSpPr txBox="1"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Notes:
- Satisfaction improved by 10.0 pp from Q3 to Q4.
- Largest respondent group: 56+ (66.7%).</a:t>
            </a:r>
          </a:p>
          <a:p>
            <a:r>
              <a:t>For example: highlight improving or declining satisfaction, or age groups that require targeted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