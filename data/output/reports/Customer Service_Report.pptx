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Satisfaction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0.7157</c:v>
                </c:pt>
                <c:pt idx="1">
                  <c:v>0.7469</c:v>
                </c:pt>
                <c:pt idx="2">
                  <c:v>0.7192</c:v>
                </c:pt>
                <c:pt idx="3">
                  <c:v>0.749</c:v>
                </c:pt>
              </c:numCache>
            </c:numRef>
          </c:val>
          <c:smooth val="0"/>
        </c:ser>
        <c:dLbls>
          <c:numFmt formatCode="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64413"/>
          <c:max val="0.8987999999999999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Engagement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0.7297</c:v>
                </c:pt>
                <c:pt idx="1">
                  <c:v>0.7534</c:v>
                </c:pt>
                <c:pt idx="2">
                  <c:v>0.7237</c:v>
                </c:pt>
                <c:pt idx="3">
                  <c:v>0.7578</c:v>
                </c:pt>
              </c:numCache>
            </c:numRef>
          </c:val>
          <c:smooth val="0"/>
        </c:ser>
        <c:dLbls>
          <c:numFmt formatCode="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6513300000000001"/>
          <c:max val="0.90936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Response Rate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0.7773</c:v>
                </c:pt>
                <c:pt idx="1">
                  <c:v>0.8358</c:v>
                </c:pt>
                <c:pt idx="2">
                  <c:v>0.7629</c:v>
                </c:pt>
                <c:pt idx="3">
                  <c:v>0.7192</c:v>
                </c:pt>
              </c:numCache>
            </c:numRef>
          </c:val>
          <c:smooth val="0"/>
        </c:ser>
        <c:dLbls>
          <c:numFmt formatCode="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64728"/>
          <c:max val="1.0029599999999999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Age Distribution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  <c:pt idx="4">
                  <c:v>56+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26.47</c:v>
                </c:pt>
                <c:pt idx="1">
                  <c:v>14.86</c:v>
                </c:pt>
                <c:pt idx="2">
                  <c:v>27.63</c:v>
                </c:pt>
                <c:pt idx="3">
                  <c:v>29.63</c:v>
                </c:pt>
                <c:pt idx="4">
                  <c:v>1.42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_Title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Customer Service - Quarterly Survey Report</a:t>
            </a:r>
          </a:p>
        </p:txBody>
      </p:sp>
      <p:sp>
        <p:nvSpPr>
          <p:cNvPr id="3" name="TextBox_Subtitle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6464"/>
                </a:solidFill>
              </a:defRPr>
            </a:pPr>
            <a:r>
              <a:t>Q4 2024 | Department Size: 327 | Response Rate: 71.9%</a:t>
            </a:r>
          </a:p>
        </p:txBody>
      </p:sp>
      <p:graphicFrame>
        <p:nvGraphicFramePr>
          <p:cNvPr id="4" name="Chart_Satisfaction"/>
          <p:cNvGraphicFramePr>
            <a:graphicFrameLocks noGrp="1"/>
          </p:cNvGraphicFramePr>
          <p:nvPr/>
        </p:nvGraphicFramePr>
        <p:xfrm>
          <a:off x="457200" y="1280160"/>
          <a:ext cx="384048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_Engagement"/>
          <p:cNvGraphicFramePr>
            <a:graphicFrameLocks noGrp="1"/>
          </p:cNvGraphicFramePr>
          <p:nvPr/>
        </p:nvGraphicFramePr>
        <p:xfrm>
          <a:off x="4572000" y="1280160"/>
          <a:ext cx="384048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_Response"/>
          <p:cNvGraphicFramePr>
            <a:graphicFrameLocks noGrp="1"/>
          </p:cNvGraphicFramePr>
          <p:nvPr/>
        </p:nvGraphicFramePr>
        <p:xfrm>
          <a:off x="457200" y="3840480"/>
          <a:ext cx="3840480" cy="23774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_Age"/>
          <p:cNvGraphicFramePr>
            <a:graphicFrameLocks noGrp="1"/>
          </p:cNvGraphicFramePr>
          <p:nvPr/>
        </p:nvGraphicFramePr>
        <p:xfrm>
          <a:off x="4572000" y="3840480"/>
          <a:ext cx="3840480" cy="23774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8" name="TextBox_Conclusion"/>
          <p:cNvSpPr txBox="1"/>
          <p:nvPr/>
        </p:nvSpPr>
        <p:spPr>
          <a:xfrm>
            <a:off x="457200" y="6537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Key Findings: Overall satisfaction increased by 4.1% QoQ. Current satisfaction: 74.9%, engagement: 75.8%.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_DetailTitle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Customer Service - Detailed Metrics</a:t>
            </a:r>
          </a:p>
        </p:txBody>
      </p:sp>
      <p:sp>
        <p:nvSpPr>
          <p:cNvPr id="3" name="TextBox_DetailSubtitle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6464"/>
                </a:solidFill>
              </a:defRPr>
            </a:pPr>
            <a:r>
              <a:t>QoQ changes and demographic breakdown</a:t>
            </a:r>
          </a:p>
        </p:txBody>
      </p:sp>
      <p:graphicFrame>
        <p:nvGraphicFramePr>
          <p:cNvPr id="4" name="Table_Metrics"/>
          <p:cNvGraphicFramePr>
            <a:graphicFrameLocks noGrp="1"/>
          </p:cNvGraphicFramePr>
          <p:nvPr/>
        </p:nvGraphicFramePr>
        <p:xfrm>
          <a:off x="457200" y="1280160"/>
          <a:ext cx="4754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QoQ Δ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+3.0 pp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Engagement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+3.4 pp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Response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-4.4 pp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+2.0 pp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_Age"/>
          <p:cNvGraphicFramePr>
            <a:graphicFrameLocks noGrp="1"/>
          </p:cNvGraphicFramePr>
          <p:nvPr/>
        </p:nvGraphicFramePr>
        <p:xfrm>
          <a:off x="5394960" y="1280160"/>
          <a:ext cx="32918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Age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Share of respondents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26.5%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26-35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14.9%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36-45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27.6%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46-55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29.6%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56+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_Notes"/>
          <p:cNvSpPr txBox="1"/>
          <p:nvPr/>
        </p:nvSpPr>
        <p:spPr>
          <a:xfrm>
            <a:off x="457200" y="4297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Notes:
- Satisfaction improved by 3.0 pp from Q3 to Q4.
- Largest respondent group: 46-55 (29.6%).</a:t>
            </a:r>
          </a:p>
          <a:p>
            <a:r>
              <a:t>For example: highlight improving or declining satisfaction, or age groups that require targeted initiatives.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