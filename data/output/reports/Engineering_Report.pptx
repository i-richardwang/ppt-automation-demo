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0.7656</c:v>
                </c:pt>
                <c:pt idx="1">
                  <c:v>0.6786</c:v>
                </c:pt>
                <c:pt idx="2">
                  <c:v>0.6807</c:v>
                </c:pt>
                <c:pt idx="3">
                  <c:v>0.6645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59805"/>
          <c:max val="0.91871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Engagement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0.6751</c:v>
                </c:pt>
                <c:pt idx="1">
                  <c:v>0.8168</c:v>
                </c:pt>
                <c:pt idx="2">
                  <c:v>0.8078</c:v>
                </c:pt>
                <c:pt idx="3">
                  <c:v>0.8093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075900000000001"/>
          <c:max val="0.98015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Response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0.8623</c:v>
                </c:pt>
                <c:pt idx="1">
                  <c:v>0.8718</c:v>
                </c:pt>
                <c:pt idx="2">
                  <c:v>0.8249</c:v>
                </c:pt>
                <c:pt idx="3">
                  <c:v>0.8302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74241"/>
          <c:max val="1.0461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Age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72.29</c:v>
                </c:pt>
                <c:pt idx="1">
                  <c:v>6.22</c:v>
                </c:pt>
                <c:pt idx="2">
                  <c:v>11.44</c:v>
                </c:pt>
                <c:pt idx="3">
                  <c:v>0.81</c:v>
                </c:pt>
                <c:pt idx="4">
                  <c:v>9.24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Engineering - Quarterly Survey Report</a:t>
            </a:r>
          </a:p>
        </p:txBody>
      </p:sp>
      <p:sp>
        <p:nvSpPr>
          <p:cNvPr id="3" name="TextBox_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Q4 2024 | Department Size: 425 | Response Rate: 83.0%</a:t>
            </a:r>
          </a:p>
        </p:txBody>
      </p:sp>
      <p:graphicFrame>
        <p:nvGraphicFramePr>
          <p:cNvPr id="4" name="Chart_Satisfaction"/>
          <p:cNvGraphicFramePr>
            <a:graphicFrameLocks noGrp="1"/>
          </p:cNvGraphicFramePr>
          <p:nvPr/>
        </p:nvGraphicFramePr>
        <p:xfrm>
          <a:off x="4572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_Engagement"/>
          <p:cNvGraphicFramePr>
            <a:graphicFrameLocks noGrp="1"/>
          </p:cNvGraphicFramePr>
          <p:nvPr/>
        </p:nvGraphicFramePr>
        <p:xfrm>
          <a:off x="45720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_Response"/>
          <p:cNvGraphicFramePr>
            <a:graphicFrameLocks noGrp="1"/>
          </p:cNvGraphicFramePr>
          <p:nvPr/>
        </p:nvGraphicFramePr>
        <p:xfrm>
          <a:off x="4572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_Age"/>
          <p:cNvGraphicFramePr>
            <a:graphicFrameLocks noGrp="1"/>
          </p:cNvGraphicFramePr>
          <p:nvPr/>
        </p:nvGraphicFramePr>
        <p:xfrm>
          <a:off x="45720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_Conclusion"/>
          <p:cNvSpPr txBox="1"/>
          <p:nvPr/>
        </p:nvSpPr>
        <p:spPr>
          <a:xfrm>
            <a:off x="457200" y="6537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Key Findings: Overall satisfaction decreased by 2.4% QoQ. Current satisfaction: 66.5%, engagement: 80.9%.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Detail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Engineering - Detailed Metrics</a:t>
            </a:r>
          </a:p>
        </p:txBody>
      </p:sp>
      <p:sp>
        <p:nvSpPr>
          <p:cNvPr id="3" name="TextBox_Detail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QoQ changes and demographic breakdown</a:t>
            </a:r>
          </a:p>
        </p:txBody>
      </p:sp>
      <p:graphicFrame>
        <p:nvGraphicFramePr>
          <p:cNvPr id="4" name="Table_Metrics"/>
          <p:cNvGraphicFramePr>
            <a:graphicFrameLocks noGrp="1"/>
          </p:cNvGraphicFramePr>
          <p:nvPr/>
        </p:nvGraphicFramePr>
        <p:xfrm>
          <a:off x="45720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QoQ 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-1.6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+0.2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+0.5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+0.5 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_Age"/>
          <p:cNvGraphicFramePr>
            <a:graphicFrameLocks noGrp="1"/>
          </p:cNvGraphicFramePr>
          <p:nvPr/>
        </p:nvGraphicFramePr>
        <p:xfrm>
          <a:off x="5394960" y="128016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Share of respondents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_Notes"/>
          <p:cNvSpPr txBox="1"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Notes:
- Satisfaction declined by 1.6 pp from Q3 to Q4.
- Largest respondent group: 18-25 (72.3%).</a:t>
            </a:r>
          </a:p>
          <a:p>
            <a:r>
              <a:t>For example: highlight improving or declining satisfaction, or age groups that require targeted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