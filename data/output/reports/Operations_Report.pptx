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Satisfaction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0.7795</c:v>
                </c:pt>
                <c:pt idx="1">
                  <c:v>0.6996</c:v>
                </c:pt>
                <c:pt idx="2">
                  <c:v>0.6748</c:v>
                </c:pt>
                <c:pt idx="3">
                  <c:v>0.5909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53181"/>
          <c:max val="0.93539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Engagement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0.6358</c:v>
                </c:pt>
                <c:pt idx="1">
                  <c:v>0.6709</c:v>
                </c:pt>
                <c:pt idx="2">
                  <c:v>0.6835</c:v>
                </c:pt>
                <c:pt idx="3">
                  <c:v>0.6484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5722200000000001"/>
          <c:max val="0.8201999999999999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Response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0.7265</c:v>
                </c:pt>
                <c:pt idx="1">
                  <c:v>0.7235</c:v>
                </c:pt>
                <c:pt idx="2">
                  <c:v>0.7431</c:v>
                </c:pt>
                <c:pt idx="3">
                  <c:v>0.7239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65115"/>
          <c:max val="0.89172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Age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9.53</c:v>
                </c:pt>
                <c:pt idx="1">
                  <c:v>34.96</c:v>
                </c:pt>
                <c:pt idx="2">
                  <c:v>23.48</c:v>
                </c:pt>
                <c:pt idx="3">
                  <c:v>17.1</c:v>
                </c:pt>
                <c:pt idx="4">
                  <c:v>14.92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Operations - Quarterly Survey Report</a:t>
            </a:r>
          </a:p>
        </p:txBody>
      </p:sp>
      <p:sp>
        <p:nvSpPr>
          <p:cNvPr id="3" name="TextBox_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Q4 2024 | Department Size: 181 | Response Rate: 72.4%</a:t>
            </a:r>
          </a:p>
        </p:txBody>
      </p:sp>
      <p:graphicFrame>
        <p:nvGraphicFramePr>
          <p:cNvPr id="4" name="Chart_Satisfaction"/>
          <p:cNvGraphicFramePr>
            <a:graphicFrameLocks noGrp="1"/>
          </p:cNvGraphicFramePr>
          <p:nvPr/>
        </p:nvGraphicFramePr>
        <p:xfrm>
          <a:off x="4572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_Engagement"/>
          <p:cNvGraphicFramePr>
            <a:graphicFrameLocks noGrp="1"/>
          </p:cNvGraphicFramePr>
          <p:nvPr/>
        </p:nvGraphicFramePr>
        <p:xfrm>
          <a:off x="4572000" y="1280160"/>
          <a:ext cx="384048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_Response"/>
          <p:cNvGraphicFramePr>
            <a:graphicFrameLocks noGrp="1"/>
          </p:cNvGraphicFramePr>
          <p:nvPr/>
        </p:nvGraphicFramePr>
        <p:xfrm>
          <a:off x="4572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_Age"/>
          <p:cNvGraphicFramePr>
            <a:graphicFrameLocks noGrp="1"/>
          </p:cNvGraphicFramePr>
          <p:nvPr/>
        </p:nvGraphicFramePr>
        <p:xfrm>
          <a:off x="4572000" y="3840480"/>
          <a:ext cx="3840480" cy="23774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8" name="TextBox_Conclusion"/>
          <p:cNvSpPr txBox="1"/>
          <p:nvPr/>
        </p:nvSpPr>
        <p:spPr>
          <a:xfrm>
            <a:off x="457200" y="6537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Key Findings: Overall satisfaction decreased by 12.4% QoQ. Current satisfaction: 59.1%, engagement: 64.8%.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_DetailTitle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Operations - Detailed Metrics</a:t>
            </a:r>
          </a:p>
        </p:txBody>
      </p:sp>
      <p:sp>
        <p:nvSpPr>
          <p:cNvPr id="3" name="TextBox_DetailSubtitle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46464"/>
                </a:solidFill>
              </a:defRPr>
            </a:pPr>
            <a:r>
              <a:t>QoQ changes and demographic breakdown</a:t>
            </a:r>
          </a:p>
        </p:txBody>
      </p:sp>
      <p:graphicFrame>
        <p:nvGraphicFramePr>
          <p:cNvPr id="4" name="Table_Metrics"/>
          <p:cNvGraphicFramePr>
            <a:graphicFrameLocks noGrp="1"/>
          </p:cNvGraphicFramePr>
          <p:nvPr/>
        </p:nvGraphicFramePr>
        <p:xfrm>
          <a:off x="45720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  <a:gridCol w="118872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QoQ Δ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-8.4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-3.5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Response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-1.9 pp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-1.3 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_Age"/>
          <p:cNvGraphicFramePr>
            <a:graphicFrameLocks noGrp="1"/>
          </p:cNvGraphicFramePr>
          <p:nvPr/>
        </p:nvGraphicFramePr>
        <p:xfrm>
          <a:off x="5394960" y="128016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Age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Share of respondents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26-35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46-55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56+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14.9%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_Notes"/>
          <p:cNvSpPr txBox="1"/>
          <p:nvPr/>
        </p:nvSpPr>
        <p:spPr>
          <a:xfrm>
            <a:off x="457200" y="4297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Notes:
- Satisfaction declined by 8.4 pp from Q3 to Q4.
- Largest respondent group: 26-35 (35.0%).</a:t>
            </a:r>
          </a:p>
          <a:p>
            <a:r>
              <a:t>For example: highlight improving or declining satisfaction, or age groups that require targeted initiatives.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