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Satisfaction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0.7801</c:v>
                </c:pt>
                <c:pt idx="1">
                  <c:v>0.6991</c:v>
                </c:pt>
                <c:pt idx="2">
                  <c:v>0.668</c:v>
                </c:pt>
                <c:pt idx="3">
                  <c:v>0.758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6012000000000001"/>
          <c:max val="0.93612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Engagement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0.729</c:v>
                </c:pt>
                <c:pt idx="1">
                  <c:v>0.7087</c:v>
                </c:pt>
                <c:pt idx="2">
                  <c:v>0.6878</c:v>
                </c:pt>
                <c:pt idx="3">
                  <c:v>0.645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5805"/>
          <c:max val="0.8747999999999999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Response Rate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0.8614</c:v>
                </c:pt>
                <c:pt idx="1">
                  <c:v>0.7829</c:v>
                </c:pt>
                <c:pt idx="2">
                  <c:v>0.7504</c:v>
                </c:pt>
                <c:pt idx="3">
                  <c:v>0.766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67536"/>
          <c:max val="1.03368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Age 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52.39</c:v>
                </c:pt>
                <c:pt idx="1">
                  <c:v>2.71</c:v>
                </c:pt>
                <c:pt idx="2">
                  <c:v>44.19</c:v>
                </c:pt>
                <c:pt idx="3">
                  <c:v>0.48</c:v>
                </c:pt>
                <c:pt idx="4">
                  <c:v>0.23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_Title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Sales - Quarterly Survey Report</a:t>
            </a:r>
          </a:p>
        </p:txBody>
      </p:sp>
      <p:sp>
        <p:nvSpPr>
          <p:cNvPr id="3" name="TextBox_Subtitle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Q4 2024 | Department Size: 122 | Response Rate: 76.6%</a:t>
            </a:r>
          </a:p>
        </p:txBody>
      </p:sp>
      <p:graphicFrame>
        <p:nvGraphicFramePr>
          <p:cNvPr id="4" name="Chart_Satisfaction"/>
          <p:cNvGraphicFramePr>
            <a:graphicFrameLocks noGrp="1"/>
          </p:cNvGraphicFramePr>
          <p:nvPr/>
        </p:nvGraphicFramePr>
        <p:xfrm>
          <a:off x="457200" y="1280160"/>
          <a:ext cx="384048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_Engagement"/>
          <p:cNvGraphicFramePr>
            <a:graphicFrameLocks noGrp="1"/>
          </p:cNvGraphicFramePr>
          <p:nvPr/>
        </p:nvGraphicFramePr>
        <p:xfrm>
          <a:off x="4572000" y="1280160"/>
          <a:ext cx="384048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_Response"/>
          <p:cNvGraphicFramePr>
            <a:graphicFrameLocks noGrp="1"/>
          </p:cNvGraphicFramePr>
          <p:nvPr/>
        </p:nvGraphicFramePr>
        <p:xfrm>
          <a:off x="457200" y="3840480"/>
          <a:ext cx="3840480" cy="2377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_Age"/>
          <p:cNvGraphicFramePr>
            <a:graphicFrameLocks noGrp="1"/>
          </p:cNvGraphicFramePr>
          <p:nvPr/>
        </p:nvGraphicFramePr>
        <p:xfrm>
          <a:off x="4572000" y="3840480"/>
          <a:ext cx="3840480" cy="2377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8" name="TextBox_Conclusion"/>
          <p:cNvSpPr txBox="1"/>
          <p:nvPr/>
        </p:nvSpPr>
        <p:spPr>
          <a:xfrm>
            <a:off x="457200" y="6537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Key Findings: Overall satisfaction increased by 13.5% QoQ. Current satisfaction: 75.8%, engagement: 64.5%.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_DetailTitle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Sales - Detailed Metrics</a:t>
            </a:r>
          </a:p>
        </p:txBody>
      </p:sp>
      <p:sp>
        <p:nvSpPr>
          <p:cNvPr id="3" name="TextBox_DetailSubtitle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QoQ changes and demographic breakdown</a:t>
            </a:r>
          </a:p>
        </p:txBody>
      </p:sp>
      <p:graphicFrame>
        <p:nvGraphicFramePr>
          <p:cNvPr id="4" name="Table_Metrics"/>
          <p:cNvGraphicFramePr>
            <a:graphicFrameLocks noGrp="1"/>
          </p:cNvGraphicFramePr>
          <p:nvPr/>
        </p:nvGraphicFramePr>
        <p:xfrm>
          <a:off x="457200" y="1280160"/>
          <a:ext cx="4754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QoQ Δ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+9.0 pp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Engagement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-4.3 pp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Response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+1.6 pp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-3.4 pp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_Age"/>
          <p:cNvGraphicFramePr>
            <a:graphicFrameLocks noGrp="1"/>
          </p:cNvGraphicFramePr>
          <p:nvPr/>
        </p:nvGraphicFramePr>
        <p:xfrm>
          <a:off x="5394960" y="1280160"/>
          <a:ext cx="3291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Age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Share of respondents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26-35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36-45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46-55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56+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_Notes"/>
          <p:cNvSpPr txBox="1"/>
          <p:nvPr/>
        </p:nvSpPr>
        <p:spPr>
          <a:xfrm>
            <a:off x="457200" y="4297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Notes:
- Satisfaction improved by 9.0 pp from Q3 to Q4.
- Largest respondent group: 18-25 (52.4%).</a:t>
            </a:r>
          </a:p>
          <a:p>
            <a:r>
              <a:t>For example: highlight improving or declining satisfaction, or age groups that require targeted initiatives.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